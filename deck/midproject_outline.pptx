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1D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C0031"/>
          </a:solidFill>
          <a:ln/>
        </p:spPr>
      </p:sp>
      <p:pic>
        <p:nvPicPr>
          <p:cNvPr id="3" name="Image 0" descr="/Users/bellavg/ProjectsMSc/ai4mi_project/.claude/worktrees/segthor-presentation-midpoint-825c66/deck/assets/uva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502920"/>
            <a:ext cx="2377440" cy="23774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28600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Multi-Organ CT Segmentation on SegTHOR</a:t>
            </a:r>
            <a:endParaRPr lang="en-US" sz="3800" dirty="0"/>
          </a:p>
        </p:txBody>
      </p:sp>
      <p:sp>
        <p:nvSpPr>
          <p:cNvPr id="5" name="Shape 2"/>
          <p:cNvSpPr/>
          <p:nvPr/>
        </p:nvSpPr>
        <p:spPr>
          <a:xfrm>
            <a:off x="749808" y="3063240"/>
            <a:ext cx="1463040" cy="45720"/>
          </a:xfrm>
          <a:prstGeom prst="rect">
            <a:avLst/>
          </a:prstGeom>
          <a:solidFill>
            <a:srgbClr val="BC0031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31520" y="324612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9D9D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Mid-project presentation — esophagus, heart, trachea and aorta segmentation from thoracic CT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59436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5B5B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Team names · Group N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6263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5B5B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September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1D2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38404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CLINICAL PROBLEM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424160" y="3840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0:40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Clinical Motivation: Organs at Risk in Thoracic CT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58368" y="1463040"/>
            <a:ext cx="1005840" cy="32004"/>
          </a:xfrm>
          <a:prstGeom prst="rect">
            <a:avLst/>
          </a:prstGeom>
          <a:solidFill>
            <a:srgbClr val="1F1D2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1783080"/>
            <a:ext cx="31089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8000"/>
              </a:lnSpc>
              <a:spcAft>
                <a:spcPts val="1400"/>
              </a:spcAft>
              <a:buSzPct val="100000"/>
              <a:buChar char="▪"/>
            </a:pPr>
            <a:r>
              <a:rPr lang="en-US" sz="160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why this matters clinically</a:t>
            </a:r>
            <a:endParaRPr lang="en-US" sz="1600" dirty="0"/>
          </a:p>
          <a:p>
            <a:pPr lvl="1" indent="0" marL="0">
              <a:lnSpc>
                <a:spcPct val="118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the manual-contouring pain point, if using one</a:t>
            </a:r>
            <a:endParaRPr lang="en-US" sz="1600" dirty="0"/>
          </a:p>
          <a:p>
            <a:pPr marL="228600" indent="-228600">
              <a:lnSpc>
                <a:spcPct val="118000"/>
              </a:lnSpc>
              <a:spcAft>
                <a:spcPts val="1400"/>
              </a:spcAft>
              <a:buSzPct val="100000"/>
              <a:buChar char="▪"/>
            </a:pPr>
            <a:r>
              <a:rPr lang="en-US" sz="160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Task: 3D thoracic CT → esophagus, heart, trachea, aorta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40080" y="3931920"/>
            <a:ext cx="3108960" cy="1188720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9" name="Shape 7"/>
          <p:cNvSpPr/>
          <p:nvPr/>
        </p:nvSpPr>
        <p:spPr>
          <a:xfrm>
            <a:off x="640080" y="3931920"/>
            <a:ext cx="54864" cy="1188720"/>
          </a:xfrm>
          <a:prstGeom prst="rect">
            <a:avLst/>
          </a:prstGeom>
          <a:solidFill>
            <a:srgbClr val="1F1D2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41148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TAKEAWAY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443484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one-sentence clinical takeaway</a:t>
            </a:r>
            <a:endParaRPr lang="en-US" sz="1350" dirty="0"/>
          </a:p>
        </p:txBody>
      </p:sp>
      <p:pic>
        <p:nvPicPr>
          <p:cNvPr id="12" name="Image 0" descr="/Users/bellavg/ProjectsMSc/ai4mi_project/.claude/worktrees/segthor-presentation-midpoint-825c66/figures/comparison/label_example_2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114800" y="1783080"/>
            <a:ext cx="5010614" cy="3617186"/>
          </a:xfrm>
          <a:prstGeom prst="rect">
            <a:avLst/>
          </a:prstGeom>
        </p:spPr>
      </p:pic>
      <p:pic>
        <p:nvPicPr>
          <p:cNvPr id="13" name="Image 1" descr="/Users/bellavg/ProjectsMSc/ai4mi_project/.claude/worktrees/segthor-presentation-midpoint-825c66/figures/comparison/label_example_3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9280862" y="1783080"/>
            <a:ext cx="2268010" cy="3617186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4114800" y="5509994"/>
            <a:ext cx="74340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Patient_18: the four organs to segment, as an axial slice (102 of 183) and as 3D surfaces</a:t>
            </a:r>
            <a:endParaRPr lang="en-US" sz="1100" dirty="0"/>
          </a:p>
        </p:txBody>
      </p:sp>
      <p:pic>
        <p:nvPicPr>
          <p:cNvPr id="15" name="Image 2" descr="/Users/bellavg/ProjectsMSc/ai4mi_project/.claude/worktrees/segthor-presentation-midpoint-825c66/deck/assets/uv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46520"/>
            <a:ext cx="1371600" cy="1371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902952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C003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38404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C003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 INTEGRITY — STEP 0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424160" y="3840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0:20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Dataset Validation: Finding the Missing Aorta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58368" y="1463040"/>
            <a:ext cx="1005840" cy="32004"/>
          </a:xfrm>
          <a:prstGeom prst="rect">
            <a:avLst/>
          </a:prstGeom>
          <a:solidFill>
            <a:srgbClr val="BC0031"/>
          </a:solidFill>
          <a:ln/>
        </p:spPr>
      </p:sp>
      <p:pic>
        <p:nvPicPr>
          <p:cNvPr id="7" name="Image 0" descr="/Users/bellavg/ProjectsMSc/ai4mi_project/.claude/worktrees/segthor-presentation-midpoint-825c66/figures/comparison/label_makeup_ring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645920"/>
            <a:ext cx="4206240" cy="219659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" y="3952240"/>
            <a:ext cx="4828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BC003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DATASET MAKE-UP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4244848"/>
            <a:ext cx="4828032" cy="964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20 patients, 978 million voxels: 98.96% background, 1.04% labelled (10.2 M)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Share of labelled voxels, 3 labels → 4 labels: esophagus 23.1% → 4.1%; aorta 18.9%</a:t>
            </a:r>
            <a:endParaRPr lang="en-US" sz="1250" dirty="0"/>
          </a:p>
        </p:txBody>
      </p:sp>
      <p:pic>
        <p:nvPicPr>
          <p:cNvPr id="10" name="Image 1" descr="/Users/bellavg/ProjectsMSc/ai4mi_project/.claude/worktrees/segthor-presentation-midpoint-825c66/figures/comparison/connected_component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720840" y="1645920"/>
            <a:ext cx="4206240" cy="215441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720840" y="3910064"/>
            <a:ext cx="4828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BC003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CONNECTED COMPONENTS</a:t>
            </a:r>
            <a:endParaRPr lang="en-US" sz="1150" dirty="0"/>
          </a:p>
        </p:txBody>
      </p:sp>
      <p:sp>
        <p:nvSpPr>
          <p:cNvPr id="12" name="Text 8"/>
          <p:cNvSpPr txBox="1"/>
          <p:nvPr/>
        </p:nvSpPr>
        <p:spPr>
          <a:xfrm>
            <a:off x="6720840" y="4202672"/>
            <a:ext cx="4828032" cy="846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% of slices (2D) or patients (3D) with 1, 2 or 3+ pieces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Top: aorta merged (3 labels). Bottom: aorta separate (4 labels)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fragmentation risk, if any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640080" y="5349240"/>
            <a:ext cx="10908792" cy="868680"/>
          </a:xfrm>
          <a:prstGeom prst="rect">
            <a:avLst/>
          </a:prstGeom>
          <a:solidFill>
            <a:srgbClr val="F7E8EC"/>
          </a:solidFill>
          <a:ln/>
        </p:spPr>
      </p:sp>
      <p:sp>
        <p:nvSpPr>
          <p:cNvPr id="14" name="Shape 10"/>
          <p:cNvSpPr/>
          <p:nvPr/>
        </p:nvSpPr>
        <p:spPr>
          <a:xfrm>
            <a:off x="640080" y="5349240"/>
            <a:ext cx="54864" cy="868680"/>
          </a:xfrm>
          <a:prstGeom prst="rect">
            <a:avLst/>
          </a:prstGeom>
          <a:solidFill>
            <a:srgbClr val="BC0031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914400" y="5532120"/>
            <a:ext cx="10360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003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FINDING</a:t>
            </a:r>
            <a:endParaRPr lang="en-US" sz="1100" dirty="0"/>
          </a:p>
        </p:txBody>
      </p:sp>
      <p:sp>
        <p:nvSpPr>
          <p:cNvPr id="16" name="Text 12"/>
          <p:cNvSpPr txBox="1"/>
          <p:nvPr/>
        </p:nvSpPr>
        <p:spPr>
          <a:xfrm>
            <a:off x="914400" y="5852160"/>
            <a:ext cx="103601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Aorta (label 4) was mislabeled — 0 / 20 patients had it before the fix.</a:t>
            </a:r>
            <a:endParaRPr lang="en-US" sz="1350" dirty="0"/>
          </a:p>
        </p:txBody>
      </p:sp>
      <p:pic>
        <p:nvPicPr>
          <p:cNvPr id="17" name="Image 2" descr="/Users/bellavg/ProjectsMSc/ai4mi_project/.claude/worktrees/segthor-presentation-midpoint-825c66/deck/assets/uv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46520"/>
            <a:ext cx="1371600" cy="1371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9902952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C003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38404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C003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 INTEGRITY — STEP 0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424160" y="3840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0:15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Dataset Validation: Correcting the Aorta Label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58368" y="1463040"/>
            <a:ext cx="1005840" cy="32004"/>
          </a:xfrm>
          <a:prstGeom prst="rect">
            <a:avLst/>
          </a:prstGeom>
          <a:solidFill>
            <a:srgbClr val="BC003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178308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BC003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IT SHOWS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075688"/>
            <a:ext cx="3108960" cy="10469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Patient_02: axial slice 111 and 3D view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Before: two pieces carry the esophagus label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After: one piece relabelled aorta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3351276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BC003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IT WAS DONE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3643884"/>
            <a:ext cx="3108960" cy="12470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how the mislabeling was found and fixed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any other integrity checks run (e.g. alignment)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4114800" y="1783080"/>
            <a:ext cx="3374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BEFORE</a:t>
            </a:r>
            <a:endParaRPr lang="en-US" sz="1150" dirty="0"/>
          </a:p>
        </p:txBody>
      </p:sp>
      <p:pic>
        <p:nvPicPr>
          <p:cNvPr id="12" name="Image 0" descr="/Users/bellavg/ProjectsMSc/ai4mi_project/.claude/worktrees/segthor-presentation-midpoint-825c66/figures/comparison/label_correction_example_befor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114800" y="2148840"/>
            <a:ext cx="3374136" cy="1872044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8174736" y="1783080"/>
            <a:ext cx="3374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BC003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AFTER</a:t>
            </a:r>
            <a:endParaRPr lang="en-US" sz="1150" dirty="0"/>
          </a:p>
        </p:txBody>
      </p:sp>
      <p:pic>
        <p:nvPicPr>
          <p:cNvPr id="14" name="Image 1" descr="/Users/bellavg/ProjectsMSc/ai4mi_project/.claude/worktrees/segthor-presentation-midpoint-825c66/figures/comparison/label_correction_example_after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8174736" y="2148840"/>
            <a:ext cx="3374136" cy="1872044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7603236" y="2947702"/>
            <a:ext cx="457200" cy="274320"/>
          </a:xfrm>
          <a:prstGeom prst="rightArrow">
            <a:avLst/>
          </a:prstGeom>
          <a:solidFill>
            <a:srgbClr val="BC0031"/>
          </a:solidFill>
          <a:ln/>
        </p:spPr>
      </p:sp>
      <p:sp>
        <p:nvSpPr>
          <p:cNvPr id="16" name="Shape 12"/>
          <p:cNvSpPr/>
          <p:nvPr/>
        </p:nvSpPr>
        <p:spPr>
          <a:xfrm>
            <a:off x="4114800" y="4340924"/>
            <a:ext cx="7434072" cy="1143000"/>
          </a:xfrm>
          <a:prstGeom prst="rect">
            <a:avLst/>
          </a:prstGeom>
          <a:solidFill>
            <a:srgbClr val="F7E8EC"/>
          </a:solidFill>
          <a:ln/>
        </p:spPr>
      </p:sp>
      <p:sp>
        <p:nvSpPr>
          <p:cNvPr id="17" name="Shape 13"/>
          <p:cNvSpPr/>
          <p:nvPr/>
        </p:nvSpPr>
        <p:spPr>
          <a:xfrm>
            <a:off x="4114800" y="4340924"/>
            <a:ext cx="54864" cy="1143000"/>
          </a:xfrm>
          <a:prstGeom prst="rect">
            <a:avLst/>
          </a:prstGeom>
          <a:solidFill>
            <a:srgbClr val="BC0031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4389120" y="4523804"/>
            <a:ext cx="6885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003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OUTCOME</a:t>
            </a:r>
            <a:endParaRPr lang="en-US" sz="1100" dirty="0"/>
          </a:p>
        </p:txBody>
      </p:sp>
      <p:sp>
        <p:nvSpPr>
          <p:cNvPr id="19" name="Text 15"/>
          <p:cNvSpPr txBox="1"/>
          <p:nvPr/>
        </p:nvSpPr>
        <p:spPr>
          <a:xfrm>
            <a:off x="4389120" y="4843844"/>
            <a:ext cx="6885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Caught and corrected before any preprocessing or training ran on it.</a:t>
            </a:r>
            <a:endParaRPr lang="en-US" sz="1350" dirty="0"/>
          </a:p>
        </p:txBody>
      </p:sp>
      <p:pic>
        <p:nvPicPr>
          <p:cNvPr id="20" name="Image 2" descr="/Users/bellavg/ProjectsMSc/ai4mi_project/.claude/worktrees/segthor-presentation-midpoint-825c66/deck/assets/uv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46520"/>
            <a:ext cx="1371600" cy="13716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9902952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983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38404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98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 EXPLORATION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424160" y="3840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0:35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58368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Exploratory Analysis I: Scan Geometry for the 20 CT Scans</a:t>
            </a:r>
            <a:endParaRPr lang="en-US" sz="2600" dirty="0"/>
          </a:p>
        </p:txBody>
      </p:sp>
      <p:pic>
        <p:nvPicPr>
          <p:cNvPr id="6" name="Image 0" descr="/Users/bellavg/ProjectsMSc/ai4mi_project/.claude/worktrees/segthor-presentation-midpoint-825c66/figures/profile/scan_geometry/field_of_view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234440"/>
            <a:ext cx="7251192" cy="492533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57032" y="123444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E98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IT SHOWS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8257032" y="1527048"/>
            <a:ext cx="3291840" cy="10469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voxel spacing across patients, slice count / scan length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8257032" y="280263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BC003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IT WAS MADE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8257032" y="3095244"/>
            <a:ext cx="3291840" cy="846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how it was measured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8257032" y="4170807"/>
            <a:ext cx="3291840" cy="1051560"/>
          </a:xfrm>
          <a:prstGeom prst="rect">
            <a:avLst/>
          </a:prstGeom>
          <a:solidFill>
            <a:srgbClr val="FCEEDC"/>
          </a:solidFill>
          <a:ln/>
        </p:spPr>
      </p:sp>
      <p:sp>
        <p:nvSpPr>
          <p:cNvPr id="12" name="Shape 9"/>
          <p:cNvSpPr/>
          <p:nvPr/>
        </p:nvSpPr>
        <p:spPr>
          <a:xfrm>
            <a:off x="8257032" y="4170807"/>
            <a:ext cx="54864" cy="1051560"/>
          </a:xfrm>
          <a:prstGeom prst="rect">
            <a:avLst/>
          </a:prstGeom>
          <a:solidFill>
            <a:srgbClr val="E98300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531352" y="4353687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WE LEARN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531352" y="4673727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what this implies</a:t>
            </a:r>
            <a:endParaRPr lang="en-US" sz="1350" dirty="0"/>
          </a:p>
        </p:txBody>
      </p:sp>
      <p:pic>
        <p:nvPicPr>
          <p:cNvPr id="15" name="Image 1" descr="/Users/bellavg/ProjectsMSc/ai4mi_project/.claude/worktrees/segthor-presentation-midpoint-825c66/deck/assets/uva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46520"/>
            <a:ext cx="1371600" cy="13716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9902952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983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38404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98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 EXPLORATION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424160" y="3840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0:35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58368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Exploratory Analysis II: Organ HU Intensity, All Patients</a:t>
            </a:r>
            <a:endParaRPr lang="en-US" sz="2600" dirty="0"/>
          </a:p>
        </p:txBody>
      </p:sp>
      <p:pic>
        <p:nvPicPr>
          <p:cNvPr id="6" name="Image 0" descr="/Users/bellavg/ProjectsMSc/ai4mi_project/.claude/worktrees/segthor-presentation-midpoint-825c66/figures/comparison/label_hu_distributi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209032" y="1234440"/>
            <a:ext cx="6339840" cy="49377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123444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E98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IT SHOWS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1527048"/>
            <a:ext cx="4114800" cy="10469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HU inside each annotated organ, for all patients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Bars are labelled voxels per 10 HU bin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Top: original labels (aorta merged). Bottom: corrected labels (aorta separate)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2802636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BC003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AORTA VS. HEART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3095244"/>
            <a:ext cx="4114800" cy="846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aorta vs. heart in HU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40080" y="4170807"/>
            <a:ext cx="4114800" cy="1051560"/>
          </a:xfrm>
          <a:prstGeom prst="rect">
            <a:avLst/>
          </a:prstGeom>
          <a:solidFill>
            <a:srgbClr val="FCEEDC"/>
          </a:solidFill>
          <a:ln/>
        </p:spPr>
      </p:sp>
      <p:sp>
        <p:nvSpPr>
          <p:cNvPr id="12" name="Shape 9"/>
          <p:cNvSpPr/>
          <p:nvPr/>
        </p:nvSpPr>
        <p:spPr>
          <a:xfrm>
            <a:off x="640080" y="4170807"/>
            <a:ext cx="54864" cy="1051560"/>
          </a:xfrm>
          <a:prstGeom prst="rect">
            <a:avLst/>
          </a:prstGeom>
          <a:solidFill>
            <a:srgbClr val="E98300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914400" y="4353687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WE LEARN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914400" y="4673727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what this implies</a:t>
            </a:r>
            <a:endParaRPr lang="en-US" sz="1350" dirty="0"/>
          </a:p>
        </p:txBody>
      </p:sp>
      <p:pic>
        <p:nvPicPr>
          <p:cNvPr id="15" name="Image 1" descr="/Users/bellavg/ProjectsMSc/ai4mi_project/.claude/worktrees/segthor-presentation-midpoint-825c66/deck/assets/uva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46520"/>
            <a:ext cx="1371600" cy="13716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9902952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983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38404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98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 EXPLORATION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424160" y="3840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0:50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Exploratory Analysis III: Spatial Layout &amp; Label Adjacency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58368" y="1463040"/>
            <a:ext cx="1005840" cy="32004"/>
          </a:xfrm>
          <a:prstGeom prst="rect">
            <a:avLst/>
          </a:prstGeom>
          <a:solidFill>
            <a:srgbClr val="E9830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1783080"/>
            <a:ext cx="332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98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POSITION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148840"/>
            <a:ext cx="3322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40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where each organ sits in 3D</a:t>
            </a:r>
            <a:endParaRPr lang="en-US" sz="140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40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</a:t>
            </a:r>
            <a:endParaRPr lang="en-US" sz="140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40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191000" y="1783080"/>
            <a:ext cx="13716" cy="1508760"/>
          </a:xfrm>
          <a:prstGeom prst="rect">
            <a:avLst/>
          </a:prstGeom>
          <a:solidFill>
            <a:srgbClr val="E3E3E3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419600" y="1783080"/>
            <a:ext cx="332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98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EXTENT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419600" y="2148840"/>
            <a:ext cx="3322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40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coverage along the body axis</a:t>
            </a:r>
            <a:endParaRPr lang="en-US" sz="140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40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</a:t>
            </a:r>
            <a:endParaRPr lang="en-US" sz="140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40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970520" y="1783080"/>
            <a:ext cx="13716" cy="1508760"/>
          </a:xfrm>
          <a:prstGeom prst="rect">
            <a:avLst/>
          </a:prstGeom>
          <a:solidFill>
            <a:srgbClr val="E3E3E3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199120" y="1783080"/>
            <a:ext cx="332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98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ADJACENCY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8199120" y="2148840"/>
            <a:ext cx="3322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40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contact between label pairs</a:t>
            </a:r>
            <a:endParaRPr lang="en-US" sz="140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40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which pairs matter most, now that aorta is real</a:t>
            </a:r>
            <a:endParaRPr lang="en-US" sz="140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40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3611880"/>
            <a:ext cx="10881360" cy="914400"/>
          </a:xfrm>
          <a:prstGeom prst="rect">
            <a:avLst/>
          </a:prstGeom>
          <a:solidFill>
            <a:srgbClr val="FCEEDC"/>
          </a:solidFill>
          <a:ln/>
        </p:spPr>
      </p:sp>
      <p:sp>
        <p:nvSpPr>
          <p:cNvPr id="16" name="Shape 14"/>
          <p:cNvSpPr/>
          <p:nvPr/>
        </p:nvSpPr>
        <p:spPr>
          <a:xfrm>
            <a:off x="640080" y="3611880"/>
            <a:ext cx="54864" cy="914400"/>
          </a:xfrm>
          <a:prstGeom prst="rect">
            <a:avLst/>
          </a:prstGeom>
          <a:solidFill>
            <a:srgbClr val="E9830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14400" y="379476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E98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THIS MATTERS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914400" y="4114800"/>
            <a:ext cx="10332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how position and extent inform the preprocessing decisions on the next slide.</a:t>
            </a:r>
            <a:endParaRPr lang="en-US" sz="1350" dirty="0"/>
          </a:p>
        </p:txBody>
      </p:sp>
      <p:pic>
        <p:nvPicPr>
          <p:cNvPr id="19" name="Image 0" descr="/Users/bellavg/ProjectsMSc/ai4mi_project/.claude/worktrees/segthor-presentation-midpoint-825c66/deck/assets/uva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46520"/>
            <a:ext cx="1371600" cy="137160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9902952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4E9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38404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04E9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PREPROCESSING PIPELINE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424160" y="3840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0:55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Preprocessing: From Measurement to Method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58368" y="1463040"/>
            <a:ext cx="1005840" cy="32004"/>
          </a:xfrm>
          <a:prstGeom prst="rect">
            <a:avLst/>
          </a:prstGeom>
          <a:solidFill>
            <a:srgbClr val="004E92"/>
          </a:solidFill>
          <a:ln/>
        </p:spPr>
      </p:sp>
      <p:sp>
        <p:nvSpPr>
          <p:cNvPr id="7" name="Shape 5"/>
          <p:cNvSpPr/>
          <p:nvPr/>
        </p:nvSpPr>
        <p:spPr>
          <a:xfrm>
            <a:off x="2069592" y="1965960"/>
            <a:ext cx="585216" cy="585216"/>
          </a:xfrm>
          <a:prstGeom prst="ellipse">
            <a:avLst/>
          </a:prstGeom>
          <a:solidFill>
            <a:srgbClr val="004E9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2069592" y="196596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715768"/>
            <a:ext cx="344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Step 1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3154680"/>
            <a:ext cx="3444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[TODO], motivated by the geometry measurement (slide 4)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093464" y="2194560"/>
            <a:ext cx="237744" cy="128016"/>
          </a:xfrm>
          <a:prstGeom prst="rightArrow">
            <a:avLst/>
          </a:prstGeom>
          <a:solidFill>
            <a:srgbClr val="D9D9D9"/>
          </a:solidFill>
          <a:ln/>
        </p:spPr>
      </p:sp>
      <p:sp>
        <p:nvSpPr>
          <p:cNvPr id="12" name="Shape 10"/>
          <p:cNvSpPr/>
          <p:nvPr/>
        </p:nvSpPr>
        <p:spPr>
          <a:xfrm>
            <a:off x="5788152" y="1965960"/>
            <a:ext cx="585216" cy="585216"/>
          </a:xfrm>
          <a:prstGeom prst="ellipse">
            <a:avLst/>
          </a:prstGeom>
          <a:solidFill>
            <a:srgbClr val="004E9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788152" y="196596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4358640" y="2715768"/>
            <a:ext cx="344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Step 2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4358640" y="3154680"/>
            <a:ext cx="3444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[TODO], motivated by the intensity measurement (slide 5)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812024" y="2194560"/>
            <a:ext cx="237744" cy="128016"/>
          </a:xfrm>
          <a:prstGeom prst="rightArrow">
            <a:avLst/>
          </a:prstGeom>
          <a:solidFill>
            <a:srgbClr val="D9D9D9"/>
          </a:solidFill>
          <a:ln/>
        </p:spPr>
      </p:sp>
      <p:sp>
        <p:nvSpPr>
          <p:cNvPr id="17" name="Shape 15"/>
          <p:cNvSpPr/>
          <p:nvPr/>
        </p:nvSpPr>
        <p:spPr>
          <a:xfrm>
            <a:off x="9506712" y="1965960"/>
            <a:ext cx="585216" cy="585216"/>
          </a:xfrm>
          <a:prstGeom prst="ellipse">
            <a:avLst/>
          </a:prstGeom>
          <a:solidFill>
            <a:srgbClr val="004E9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506712" y="196596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8077200" y="2715768"/>
            <a:ext cx="344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Step 3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8077200" y="3154680"/>
            <a:ext cx="3444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[TODO], motivated by the position/extent measurement (slide 6)</a:t>
            </a:r>
            <a:endParaRPr lang="en-US" sz="1200" dirty="0"/>
          </a:p>
        </p:txBody>
      </p:sp>
      <p:pic>
        <p:nvPicPr>
          <p:cNvPr id="21" name="Image 0" descr="/Users/bellavg/ProjectsMSc/ai4mi_project/.claude/worktrees/segthor-presentation-midpoint-825c66/deck/assets/uva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46520"/>
            <a:ext cx="1371600" cy="137160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9902952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51B6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38404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751B6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BASELINE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424160" y="3840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0:35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Baseline Performance: Unmodified Pipeline (CE Loss, 25 Epochs)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58368" y="1463040"/>
            <a:ext cx="1005840" cy="32004"/>
          </a:xfrm>
          <a:prstGeom prst="rect">
            <a:avLst/>
          </a:prstGeom>
          <a:solidFill>
            <a:srgbClr val="751B68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1783080"/>
            <a:ext cx="63093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8000"/>
              </a:lnSpc>
              <a:spcAft>
                <a:spcPts val="1400"/>
              </a:spcAft>
              <a:buSzPct val="100000"/>
              <a:buChar char="▪"/>
            </a:pPr>
            <a:r>
              <a:rPr lang="en-US" sz="160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Split: 15 train / 5 val — val = patients 01, 11, 15, 17, 19</a:t>
            </a:r>
            <a:endParaRPr lang="en-US" sz="1600" dirty="0"/>
          </a:p>
          <a:p>
            <a:pPr lvl="1" indent="0" marL="0">
              <a:lnSpc>
                <a:spcPct val="118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Scores below are means over these 5 held-out scans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360920" y="1783080"/>
            <a:ext cx="4160520" cy="2011680"/>
          </a:xfrm>
          <a:prstGeom prst="rect">
            <a:avLst/>
          </a:prstGeom>
          <a:solidFill>
            <a:srgbClr val="F1E6EF"/>
          </a:solidFill>
          <a:ln/>
        </p:spPr>
      </p:sp>
      <p:sp>
        <p:nvSpPr>
          <p:cNvPr id="9" name="Shape 7"/>
          <p:cNvSpPr/>
          <p:nvPr/>
        </p:nvSpPr>
        <p:spPr>
          <a:xfrm>
            <a:off x="7360920" y="1783080"/>
            <a:ext cx="54864" cy="2011680"/>
          </a:xfrm>
          <a:prstGeom prst="rect">
            <a:avLst/>
          </a:prstGeom>
          <a:solidFill>
            <a:srgbClr val="751B6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635240" y="196596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751B6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POSITIVE-SLICE DICE (PATIENT MEANS)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635240" y="2286000"/>
            <a:ext cx="3611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Esophagus: 0.47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Heart: 0.58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Trachea: 0.50</a:t>
            </a:r>
            <a:endParaRPr lang="en-US" sz="1350" dirty="0"/>
          </a:p>
        </p:txBody>
      </p:sp>
      <p:pic>
        <p:nvPicPr>
          <p:cNvPr id="12" name="Image 0" descr="/Users/bellavg/ProjectsMSc/ai4mi_project/.claude/worktrees/segthor-presentation-midpoint-825c66/deck/assets/uva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46520"/>
            <a:ext cx="1371600" cy="13716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9902952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51B6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38404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751B6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MODIFICATION &amp; RESULT — LARGEST RUBRIC WEIGHT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424160" y="3840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2:10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Proposed Modification: Motivation, Method &amp; Preliminary Result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58368" y="1463040"/>
            <a:ext cx="1005840" cy="32004"/>
          </a:xfrm>
          <a:prstGeom prst="rect">
            <a:avLst/>
          </a:prstGeom>
          <a:solidFill>
            <a:srgbClr val="751B68"/>
          </a:solidFill>
          <a:ln/>
        </p:spPr>
      </p:sp>
      <p:sp>
        <p:nvSpPr>
          <p:cNvPr id="7" name="Shape 5"/>
          <p:cNvSpPr/>
          <p:nvPr/>
        </p:nvSpPr>
        <p:spPr>
          <a:xfrm>
            <a:off x="1604772" y="1965960"/>
            <a:ext cx="585216" cy="585216"/>
          </a:xfrm>
          <a:prstGeom prst="ellipse">
            <a:avLst/>
          </a:prstGeom>
          <a:solidFill>
            <a:srgbClr val="751B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604772" y="196596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715768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Motivation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3154680"/>
            <a:ext cx="2514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[TODO], tied back to an exploration finding (slides 4–6)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163824" y="2194560"/>
            <a:ext cx="237744" cy="128016"/>
          </a:xfrm>
          <a:prstGeom prst="rightArrow">
            <a:avLst/>
          </a:prstGeom>
          <a:solidFill>
            <a:srgbClr val="D9D9D9"/>
          </a:solidFill>
          <a:ln/>
        </p:spPr>
      </p:sp>
      <p:sp>
        <p:nvSpPr>
          <p:cNvPr id="12" name="Shape 10"/>
          <p:cNvSpPr/>
          <p:nvPr/>
        </p:nvSpPr>
        <p:spPr>
          <a:xfrm>
            <a:off x="4393692" y="1965960"/>
            <a:ext cx="585216" cy="585216"/>
          </a:xfrm>
          <a:prstGeom prst="ellipse">
            <a:avLst/>
          </a:prstGeom>
          <a:solidFill>
            <a:srgbClr val="751B6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393692" y="196596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3429000" y="2715768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Method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3154680"/>
            <a:ext cx="2514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the modification tried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952744" y="2194560"/>
            <a:ext cx="237744" cy="128016"/>
          </a:xfrm>
          <a:prstGeom prst="rightArrow">
            <a:avLst/>
          </a:prstGeom>
          <a:solidFill>
            <a:srgbClr val="D9D9D9"/>
          </a:solidFill>
          <a:ln/>
        </p:spPr>
      </p:sp>
      <p:sp>
        <p:nvSpPr>
          <p:cNvPr id="17" name="Shape 15"/>
          <p:cNvSpPr/>
          <p:nvPr/>
        </p:nvSpPr>
        <p:spPr>
          <a:xfrm>
            <a:off x="7182612" y="1965960"/>
            <a:ext cx="585216" cy="585216"/>
          </a:xfrm>
          <a:prstGeom prst="ellipse">
            <a:avLst/>
          </a:prstGeom>
          <a:solidFill>
            <a:srgbClr val="751B6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182612" y="196596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6217920" y="2715768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Result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3154680"/>
            <a:ext cx="2514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vs. baseline — from the run in progress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741664" y="2194560"/>
            <a:ext cx="237744" cy="128016"/>
          </a:xfrm>
          <a:prstGeom prst="rightArrow">
            <a:avLst/>
          </a:prstGeom>
          <a:solidFill>
            <a:srgbClr val="D9D9D9"/>
          </a:solidFill>
          <a:ln/>
        </p:spPr>
      </p:sp>
      <p:sp>
        <p:nvSpPr>
          <p:cNvPr id="22" name="Shape 20"/>
          <p:cNvSpPr/>
          <p:nvPr/>
        </p:nvSpPr>
        <p:spPr>
          <a:xfrm>
            <a:off x="9971532" y="1965960"/>
            <a:ext cx="585216" cy="585216"/>
          </a:xfrm>
          <a:prstGeom prst="ellipse">
            <a:avLst/>
          </a:prstGeom>
          <a:solidFill>
            <a:srgbClr val="751B6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971532" y="196596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9006840" y="2715768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Next steps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9006840" y="3154680"/>
            <a:ext cx="2514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one or two concrete next experiments</a:t>
            </a:r>
            <a:endParaRPr lang="en-US" sz="1200" dirty="0"/>
          </a:p>
        </p:txBody>
      </p:sp>
      <p:pic>
        <p:nvPicPr>
          <p:cNvPr id="26" name="Image 0" descr="/Users/bellavg/ProjectsMSc/ai4mi_project/.claude/worktrees/segthor-presentation-midpoint-825c66/deck/assets/uva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46520"/>
            <a:ext cx="1371600" cy="137160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9902952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1D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C003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5486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Status &amp; Next Steps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554480"/>
            <a:ext cx="9601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Done: dataset validation, exploration, baseline, preprocessing pipeline</a:t>
            </a:r>
            <a:endParaRPr lang="en-US" sz="1600" dirty="0"/>
          </a:p>
          <a:p>
            <a:pPr marL="228600" indent="-228600">
              <a:lnSpc>
                <a:spcPct val="11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progress: [TODO] first modified-loss / modified-preprocessing run</a:t>
            </a:r>
            <a:endParaRPr lang="en-US" sz="1600" dirty="0"/>
          </a:p>
          <a:p>
            <a:pPr marL="228600" indent="-228600">
              <a:lnSpc>
                <a:spcPct val="11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Next: [TODO] one or two concrete next experiments before the final deadline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7607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5B5B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Questions</a:t>
            </a:r>
            <a:endParaRPr lang="en-US" sz="2000" dirty="0"/>
          </a:p>
        </p:txBody>
      </p:sp>
      <p:pic>
        <p:nvPicPr>
          <p:cNvPr id="6" name="Image 0" descr="/Users/bellavg/ProjectsMSc/ai4mi_project/.claude/worktrees/segthor-presentation-midpoint-825c66/deck/assets/uva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46520"/>
            <a:ext cx="1371600" cy="1371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902952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B6B6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38404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APPENDIX A — BACKUP, NOT IN THE TIMED TALK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Appendix A: Label Shape Variability Across Patients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58368" y="1463040"/>
            <a:ext cx="1005840" cy="32004"/>
          </a:xfrm>
          <a:prstGeom prst="rect">
            <a:avLst/>
          </a:prstGeom>
          <a:solidFill>
            <a:srgbClr val="6B6B6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1783080"/>
            <a:ext cx="106070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8000"/>
              </a:lnSpc>
              <a:spcAft>
                <a:spcPts val="1400"/>
              </a:spcAft>
              <a:buSzPct val="100000"/>
              <a:buChar char="▪"/>
            </a:pPr>
            <a:r>
              <a:rPr lang="en-US" sz="160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what this figure shows, patient by patient</a:t>
            </a:r>
            <a:endParaRPr lang="en-US" sz="1600" dirty="0"/>
          </a:p>
          <a:p>
            <a:pPr marL="228600" indent="-228600">
              <a:lnSpc>
                <a:spcPct val="118000"/>
              </a:lnSpc>
              <a:spcAft>
                <a:spcPts val="1400"/>
              </a:spcAft>
              <a:buSzPct val="100000"/>
              <a:buChar char="▪"/>
            </a:pPr>
            <a:r>
              <a:rPr lang="en-US" sz="160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where aorta fits into that pattern</a:t>
            </a:r>
            <a:endParaRPr lang="en-US" sz="1600" dirty="0"/>
          </a:p>
          <a:p>
            <a:pPr lvl="1" indent="0" marL="0">
              <a:lnSpc>
                <a:spcPct val="118000"/>
              </a:lnSpc>
              <a:spcAft>
                <a:spcPts val="600"/>
              </a:spcAft>
              <a:buNone/>
            </a:pPr>
            <a:r>
              <a:rPr lang="en-US" sz="1400" i="1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Backup only — pull in if a question opens the door</a:t>
            </a:r>
            <a:endParaRPr lang="en-US" sz="1600" dirty="0"/>
          </a:p>
        </p:txBody>
      </p:sp>
      <p:pic>
        <p:nvPicPr>
          <p:cNvPr id="7" name="Image 0" descr="/Users/bellavg/ProjectsMSc/ai4mi_project/.claude/worktrees/segthor-presentation-midpoint-825c66/deck/assets/uva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46520"/>
            <a:ext cx="1371600" cy="1371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902952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AI for Medical Imaging</dc:creator>
  <cp:lastModifiedBy>AI for Medical Imaging</cp:lastModifiedBy>
  <cp:revision>1</cp:revision>
  <dcterms:created xsi:type="dcterms:W3CDTF">2026-09-20T07:22:15Z</dcterms:created>
  <dcterms:modified xsi:type="dcterms:W3CDTF">2026-09-20T07:22:15Z</dcterms:modified>
</cp:coreProperties>
</file>