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BC0031"/>
          </a:solidFill>
          <a:ln/>
        </p:spPr>
      </p:sp>
      <p:pic>
        <p:nvPicPr>
          <p:cNvPr id="3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02920"/>
            <a:ext cx="2377440" cy="2377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Multi-Organ CT Segmentation on SegTHOR</a:t>
            </a:r>
            <a:endParaRPr lang="en-US" sz="3800" dirty="0"/>
          </a:p>
        </p:txBody>
      </p:sp>
      <p:sp>
        <p:nvSpPr>
          <p:cNvPr id="5" name="Shape 2"/>
          <p:cNvSpPr/>
          <p:nvPr/>
        </p:nvSpPr>
        <p:spPr>
          <a:xfrm>
            <a:off x="749808" y="3063240"/>
            <a:ext cx="1463040" cy="4572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32461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9D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Mid-project presentation — esophagus, heart, trachea and aorta segmentation from thoracic 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names · Group 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PROBLEM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0:40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Clinical Motivation: Organs at Risk in Thoracic 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why this matters clinically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manual-contouring pain point, if using one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Task: 3D thoracic CT → esophagus, heart, trachea, aorta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931920"/>
            <a:ext cx="3108960" cy="1188720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931920"/>
            <a:ext cx="54864" cy="1188720"/>
          </a:xfrm>
          <a:prstGeom prst="rect">
            <a:avLst/>
          </a:prstGeom>
          <a:solidFill>
            <a:srgbClr val="1F1D2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348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one-sentence clinical takeaway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figures/comparison/label_example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1783080"/>
            <a:ext cx="5010614" cy="3617186"/>
          </a:xfrm>
          <a:prstGeom prst="rect">
            <a:avLst/>
          </a:prstGeom>
        </p:spPr>
      </p:pic>
      <p:pic>
        <p:nvPicPr>
          <p:cNvPr id="13" name="Image 1" descr="/Users/bellavg/ProjectsMSc/ai4mi_project/.claude/worktrees/segthor-presentation-midpoint-825c66/figures/comparison/label_example_3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280862" y="1783080"/>
            <a:ext cx="2268010" cy="361718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14800" y="5509994"/>
            <a:ext cx="7434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Patient_18: the four organs to segment, as an axial slice (102 of 183) and as 3D surfaces</a:t>
            </a:r>
            <a:endParaRPr lang="en-US" sz="1100" dirty="0"/>
          </a:p>
        </p:txBody>
      </p:sp>
      <p:pic>
        <p:nvPicPr>
          <p:cNvPr id="15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0:20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Finding the Missing Aorta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64592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MAKE-UP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4233672" cy="4823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real per-class voxel share, now corrected — as numbers, not a bar chart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49474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COMPONENTS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42082"/>
            <a:ext cx="4233672" cy="1247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Connected pieces per label, for all patients: % of axial slices (2D) or patients (3D) with 1, 2 or 3+ pieces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aorta merged (3 labels). Bottom: aorta separate (4 labels)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fragmentation risk, if any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4417695"/>
            <a:ext cx="4233672" cy="100584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417695"/>
            <a:ext cx="54864" cy="100584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600575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20615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(label 4) was mislabeled — 0 / 20 patients had it before the fix.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239512" y="1645920"/>
            <a:ext cx="6309360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D9A0AE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5239512" y="1645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make-up figure (to add)</a:t>
            </a:r>
            <a:endParaRPr lang="en-US" sz="1200" dirty="0"/>
          </a:p>
        </p:txBody>
      </p:sp>
      <p:pic>
        <p:nvPicPr>
          <p:cNvPr id="17" name="Image 0" descr="/Users/bellavg/ProjectsMSc/ai4mi_project/.claude/worktrees/segthor-presentation-midpoint-825c66/figures/comparison/connected_componen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39512" y="3154680"/>
            <a:ext cx="6309360" cy="2870759"/>
          </a:xfrm>
          <a:prstGeom prst="rect">
            <a:avLst/>
          </a:prstGeom>
        </p:spPr>
      </p:pic>
      <p:pic>
        <p:nvPicPr>
          <p:cNvPr id="18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INTEGRITY — STEP 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0:15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Validation: Correcting the Aorta Label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310896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Patient_02: axial slice 111 and 3D view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Before: two pieces carry the esophagus label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After: one piece relabelled aorta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35127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DONE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643884"/>
            <a:ext cx="3108960" cy="1247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the mislabeling was found and fixed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any other integrity checks run (e.g. alignment)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</a:t>
            </a:r>
            <a:endParaRPr lang="en-US" sz="1150" dirty="0"/>
          </a:p>
        </p:txBody>
      </p:sp>
      <p:pic>
        <p:nvPicPr>
          <p:cNvPr id="12" name="Image 0" descr="/Users/bellavg/ProjectsMSc/ai4mi_project/.claude/worktrees/segthor-presentation-midpoint-825c66/figures/comparison/label_correction_example_bef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0" y="2148840"/>
            <a:ext cx="3374136" cy="18720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8174736" y="1783080"/>
            <a:ext cx="3374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pic>
        <p:nvPicPr>
          <p:cNvPr id="14" name="Image 1" descr="/Users/bellavg/ProjectsMSc/ai4mi_project/.claude/worktrees/segthor-presentation-midpoint-825c66/figures/comparison/label_correction_example_aft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174736" y="2148840"/>
            <a:ext cx="3374136" cy="18720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603236" y="2947702"/>
            <a:ext cx="457200" cy="274320"/>
          </a:xfrm>
          <a:prstGeom prst="rightArrow">
            <a:avLst/>
          </a:prstGeom>
          <a:solidFill>
            <a:srgbClr val="BC0031"/>
          </a:solidFill>
          <a:ln/>
        </p:spPr>
      </p:sp>
      <p:sp>
        <p:nvSpPr>
          <p:cNvPr id="16" name="Shape 12"/>
          <p:cNvSpPr/>
          <p:nvPr/>
        </p:nvSpPr>
        <p:spPr>
          <a:xfrm>
            <a:off x="4114800" y="4340924"/>
            <a:ext cx="7434072" cy="1143000"/>
          </a:xfrm>
          <a:prstGeom prst="rect">
            <a:avLst/>
          </a:prstGeom>
          <a:solidFill>
            <a:srgbClr val="F7E8EC"/>
          </a:solidFill>
          <a:ln/>
        </p:spPr>
      </p:sp>
      <p:sp>
        <p:nvSpPr>
          <p:cNvPr id="17" name="Shape 13"/>
          <p:cNvSpPr/>
          <p:nvPr/>
        </p:nvSpPr>
        <p:spPr>
          <a:xfrm>
            <a:off x="4114800" y="4340924"/>
            <a:ext cx="54864" cy="1143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389120" y="4523804"/>
            <a:ext cx="6885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4389120" y="484384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Caught and corrected before any preprocessing or training ran on it.</a:t>
            </a:r>
            <a:endParaRPr lang="en-US" sz="1350" dirty="0"/>
          </a:p>
        </p:txBody>
      </p:sp>
      <p:pic>
        <p:nvPicPr>
          <p:cNvPr id="20" name="Image 2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I: Scan Geometry for the 20 CT Scans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profile/scan_geometry/field_of_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234440"/>
            <a:ext cx="7251192" cy="49253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12344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1527048"/>
            <a:ext cx="329184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voxel spacing across patients, slice count / scan length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257032" y="28026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WAS MADE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257032" y="3095244"/>
            <a:ext cx="329184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it was measured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257032" y="4170807"/>
            <a:ext cx="329184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8257032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31352" y="4353687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531352" y="4673727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II: Organ HU Intensity, All Patients</a:t>
            </a:r>
            <a:endParaRPr lang="en-US" sz="2600" dirty="0"/>
          </a:p>
        </p:txBody>
      </p:sp>
      <p:pic>
        <p:nvPicPr>
          <p:cNvPr id="6" name="Image 0" descr="/Users/bellavg/ProjectsMSc/ai4mi_project/.claude/worktrees/segthor-presentation-midpoint-825c66/figures/comparison/label_hu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09032" y="1234440"/>
            <a:ext cx="6339840" cy="4937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123444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IT SHOWS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527048"/>
            <a:ext cx="4114800" cy="1046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 inside each annotated organ, for all patients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Bars are labelled voxels per 10 HU bin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Top: original labels (aorta merged). Bottom: corrected labels (aorta separate)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8026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C00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AORTA VS. HEART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095244"/>
            <a:ext cx="411480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aorta vs. heart in HU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0080" y="4170807"/>
            <a:ext cx="4114800" cy="105156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4170807"/>
            <a:ext cx="54864" cy="105156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14400" y="4353687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LEARN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" y="4673727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implies</a:t>
            </a:r>
            <a:endParaRPr lang="en-US" sz="1350" dirty="0"/>
          </a:p>
        </p:txBody>
      </p:sp>
      <p:pic>
        <p:nvPicPr>
          <p:cNvPr id="15" name="Image 1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EXPLORATION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Analysis III: Spatial Layout &amp; Label Adjacency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POSITION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each organ sits in 3D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9100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41960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41960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coverage along the body axis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70520" y="1783080"/>
            <a:ext cx="13716" cy="1508760"/>
          </a:xfrm>
          <a:prstGeom prst="rect">
            <a:avLst/>
          </a:prstGeom>
          <a:solidFill>
            <a:srgbClr val="E3E3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99120" y="1783080"/>
            <a:ext cx="332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ADJACENCY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99120" y="2148840"/>
            <a:ext cx="3322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contact between label pairs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which pairs matter most, now that aorta is real</a:t>
            </a:r>
            <a:endParaRPr lang="en-US" sz="1400" dirty="0"/>
          </a:p>
          <a:p>
            <a:pPr marL="177800" indent="-177800">
              <a:lnSpc>
                <a:spcPct val="115000"/>
              </a:lnSpc>
              <a:spcAft>
                <a:spcPts val="500"/>
              </a:spcAft>
              <a:buSzPct val="100000"/>
              <a:buChar char="▪"/>
            </a:pPr>
            <a:r>
              <a:rPr lang="en-US" sz="14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10881360" cy="914400"/>
          </a:xfrm>
          <a:prstGeom prst="rect">
            <a:avLst/>
          </a:prstGeom>
          <a:solidFill>
            <a:srgbClr val="FCEEDC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611880"/>
            <a:ext cx="54864" cy="914400"/>
          </a:xfrm>
          <a:prstGeom prst="rect">
            <a:avLst/>
          </a:prstGeom>
          <a:solidFill>
            <a:srgbClr val="E983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7947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983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114800"/>
            <a:ext cx="1033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how position and extent inform the preprocessing decisions on the next slide.</a:t>
            </a:r>
            <a:endParaRPr lang="en-US" sz="1350" dirty="0"/>
          </a:p>
        </p:txBody>
      </p:sp>
      <p:pic>
        <p:nvPicPr>
          <p:cNvPr id="19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04E9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0:55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Preprocessing: From Measurement to Method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004E92"/>
          </a:solidFill>
          <a:ln/>
        </p:spPr>
      </p:sp>
      <p:sp>
        <p:nvSpPr>
          <p:cNvPr id="7" name="Shape 5"/>
          <p:cNvSpPr/>
          <p:nvPr/>
        </p:nvSpPr>
        <p:spPr>
          <a:xfrm>
            <a:off x="206959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695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geometry measurement (slide 4)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934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578815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8815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35864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2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35864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intensity measurement (slide 5)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120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9506712" y="1965960"/>
            <a:ext cx="585216" cy="585216"/>
          </a:xfrm>
          <a:prstGeom prst="ellipse">
            <a:avLst/>
          </a:prstGeom>
          <a:solidFill>
            <a:srgbClr val="004E9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5067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077200" y="2715768"/>
            <a:ext cx="344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Step 3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077200" y="3154680"/>
            <a:ext cx="344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motivated by the position/extent measurement (slide 6)</a:t>
            </a:r>
            <a:endParaRPr lang="en-US" sz="1200" dirty="0"/>
          </a:p>
        </p:txBody>
      </p:sp>
      <p:pic>
        <p:nvPicPr>
          <p:cNvPr id="21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0:35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Performance: Unmodified Pipeline (CE Loss, 25 Epochs)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Split: 15 train / 5 val — val = patients 01, 11, 15, 17, 19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Scores below are means over these 5 held-out scans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60920" y="1783080"/>
            <a:ext cx="4160520" cy="2011680"/>
          </a:xfrm>
          <a:prstGeom prst="rect">
            <a:avLst/>
          </a:prstGeom>
          <a:solidFill>
            <a:srgbClr val="F1E6EF"/>
          </a:solidFill>
          <a:ln/>
        </p:spPr>
      </p:sp>
      <p:sp>
        <p:nvSpPr>
          <p:cNvPr id="9" name="Shape 7"/>
          <p:cNvSpPr/>
          <p:nvPr/>
        </p:nvSpPr>
        <p:spPr>
          <a:xfrm>
            <a:off x="7360920" y="1783080"/>
            <a:ext cx="54864" cy="201168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9659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POSITIVE-SLICE DICE (PATIENT MEANS)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28600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Esophagus: 0.47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Heart: 0.58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Trachea: 0.50</a:t>
            </a:r>
            <a:endParaRPr lang="en-US" sz="1350" dirty="0"/>
          </a:p>
        </p:txBody>
      </p:sp>
      <p:pic>
        <p:nvPicPr>
          <p:cNvPr id="12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51B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MODIFICATION &amp; RESULT — LARGEST RUBRIC WEIGHT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424160" y="3840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2:10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Modification: Motivation, Method &amp; Preliminary Result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751B68"/>
          </a:solidFill>
          <a:ln/>
        </p:spPr>
      </p:sp>
      <p:sp>
        <p:nvSpPr>
          <p:cNvPr id="7" name="Shape 5"/>
          <p:cNvSpPr/>
          <p:nvPr/>
        </p:nvSpPr>
        <p:spPr>
          <a:xfrm>
            <a:off x="160477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0477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Motivation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[TODO], tied back to an exploration finding (slides 4–6)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6382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369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9369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the modification tried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5274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17" name="Shape 15"/>
          <p:cNvSpPr/>
          <p:nvPr/>
        </p:nvSpPr>
        <p:spPr>
          <a:xfrm>
            <a:off x="718261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261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vs. baseline — from the run in progress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41664" y="2194560"/>
            <a:ext cx="237744" cy="128016"/>
          </a:xfrm>
          <a:prstGeom prst="rightArrow">
            <a:avLst/>
          </a:prstGeom>
          <a:solidFill>
            <a:srgbClr val="D9D9D9"/>
          </a:solidFill>
          <a:ln/>
        </p:spPr>
      </p:sp>
      <p:sp>
        <p:nvSpPr>
          <p:cNvPr id="22" name="Shape 20"/>
          <p:cNvSpPr/>
          <p:nvPr/>
        </p:nvSpPr>
        <p:spPr>
          <a:xfrm>
            <a:off x="9971532" y="1965960"/>
            <a:ext cx="585216" cy="585216"/>
          </a:xfrm>
          <a:prstGeom prst="ellipse">
            <a:avLst/>
          </a:prstGeom>
          <a:solidFill>
            <a:srgbClr val="751B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71532" y="196596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9006840" y="2715768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steps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06840" y="3154680"/>
            <a:ext cx="2514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one or two concrete next experiments</a:t>
            </a:r>
            <a:endParaRPr lang="en-US" sz="1200" dirty="0"/>
          </a:p>
        </p:txBody>
      </p:sp>
      <p:pic>
        <p:nvPicPr>
          <p:cNvPr id="26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C003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Status &amp; Next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54480"/>
            <a:ext cx="9601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Done: dataset validation, exploration, baseline, preprocessing pipeline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progress: [TODO] first modified-loss / modified-preprocessing run</a:t>
            </a:r>
            <a:endParaRPr lang="en-US" sz="1600" dirty="0"/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Next: [TODO] one or two concrete next experiments before the final deadline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B5B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</a:t>
            </a:r>
            <a:endParaRPr lang="en-US" sz="2000" dirty="0"/>
          </a:p>
        </p:txBody>
      </p:sp>
      <p:pic>
        <p:nvPicPr>
          <p:cNvPr id="6" name="Image 0" descr="/Users/bellavg/ProjectsMSc/ai4mi_project/.claude/worktrees/segthor-presentation-midpoint-825c66/deck/assets/uva_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38404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 — BACKUP, NOT IN THE TIMED TALK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Appendix A: Label Shape Variability Across Patients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463040"/>
            <a:ext cx="1005840" cy="32004"/>
          </a:xfrm>
          <a:prstGeom prst="rect">
            <a:avLst/>
          </a:prstGeom>
          <a:solidFill>
            <a:srgbClr val="6B6B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106070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what this figure shows, patient by patient</a:t>
            </a:r>
            <a:endParaRPr lang="en-US" sz="1600" dirty="0"/>
          </a:p>
          <a:p>
            <a:pPr marL="228600" indent="-228600">
              <a:lnSpc>
                <a:spcPct val="118000"/>
              </a:lnSpc>
              <a:spcAft>
                <a:spcPts val="1400"/>
              </a:spcAft>
              <a:buSzPct val="100000"/>
              <a:buChar char="▪"/>
            </a:pPr>
            <a:r>
              <a:rPr lang="en-US" sz="1600" dirty="0">
                <a:solidFill>
                  <a:srgbClr val="1F1D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[TODO] where aorta fits into that pattern</a:t>
            </a:r>
            <a:endParaRPr lang="en-US" sz="1600" dirty="0"/>
          </a:p>
          <a:p>
            <a:pPr lvl="1"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Backup only — pull in if a question opens the door</a:t>
            </a:r>
            <a:endParaRPr lang="en-US" sz="1600" dirty="0"/>
          </a:p>
        </p:txBody>
      </p:sp>
      <p:pic>
        <p:nvPicPr>
          <p:cNvPr id="7" name="Image 0" descr="/Users/bellavg/ProjectsMSc/ai4mi_project/.claude/worktrees/segthor-presentation-midpoint-825c66/deck/assets/uv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46520"/>
            <a:ext cx="1371600" cy="137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902952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for Medical Imaging</dc:creator>
  <cp:lastModifiedBy>AI for Medical Imaging</cp:lastModifiedBy>
  <cp:revision>1</cp:revision>
  <dcterms:created xsi:type="dcterms:W3CDTF">2026-09-19T22:25:31Z</dcterms:created>
  <dcterms:modified xsi:type="dcterms:W3CDTF">2026-09-19T22:25:31Z</dcterms:modified>
</cp:coreProperties>
</file>