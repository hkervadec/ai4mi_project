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3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2377440" cy="237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Multi-Organ CT Segmentation on SegTHOR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749808" y="3063240"/>
            <a:ext cx="1463040" cy="457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Mid-project presentation — esophagus, heart, trachea and aorta segmentation from thoracic CT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names · Group 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Motivation: Organs at Risk in Thoracic CT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why this matters clinically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manual-contouring pain point, if using one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Task: 3D thoracic CT → esophagus, heart, trachea, aorta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108960" cy="11887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931920"/>
            <a:ext cx="54864" cy="118872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34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one-sentence clinical takeaway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figures/comparison/label_example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1783080"/>
            <a:ext cx="5010614" cy="3617186"/>
          </a:xfrm>
          <a:prstGeom prst="rect">
            <a:avLst/>
          </a:prstGeom>
        </p:spPr>
      </p:pic>
      <p:pic>
        <p:nvPicPr>
          <p:cNvPr id="13" name="Image 1" descr="/Users/bellavg/ProjectsMSc/ai4mi_project/.claude/worktrees/segthor-presentation-midpoint-825c66/figures/comparison/label_example_3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0862" y="1783080"/>
            <a:ext cx="2268010" cy="361718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14800" y="5509994"/>
            <a:ext cx="7434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Patient_18: the four organs to segment, as an axial slice (102 of 183) and as 3D surfaces</a:t>
            </a:r>
            <a:endParaRPr lang="en-US" sz="1100" dirty="0"/>
          </a:p>
        </p:txBody>
      </p:sp>
      <p:pic>
        <p:nvPicPr>
          <p:cNvPr id="15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0:20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Finding the Missing Aorta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7" name="Image 0" descr="/Users/bellavg/ProjectsMSc/ai4mi_project/.claude/worktrees/segthor-presentation-midpoint-825c66/figures/comparison/label_makeup_rin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45920"/>
            <a:ext cx="4206240" cy="21965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3952240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MAKE-UP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4244848"/>
            <a:ext cx="4828032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patients, 978 million voxels: 98.96% background, 1.04% labelled (10.2 M)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 of labelled voxels, 3 labels → 4 labels: esophagus 23.1% → 4.1%; aorta 18.9%</a:t>
            </a:r>
            <a:endParaRPr lang="en-US" sz="1250" dirty="0"/>
          </a:p>
        </p:txBody>
      </p:sp>
      <p:pic>
        <p:nvPicPr>
          <p:cNvPr id="10" name="Image 1" descr="/Users/bellavg/ProjectsMSc/ai4mi_project/.claude/worktrees/segthor-presentation-midpoint-825c66/figures/comparison/connected_componen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20840" y="1645920"/>
            <a:ext cx="4206240" cy="21544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20840" y="3910064"/>
            <a:ext cx="4828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CONNECTED COMPONENTS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720840" y="4202672"/>
            <a:ext cx="4828032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% of slices (2D) or patients (3D) with 1, 2 or 3+ pieces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aorta merged (3 labels). Bottom: aorta separate (4 labels)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fragmentation risk, if any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5349240"/>
            <a:ext cx="10908792" cy="86868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4" name="Shape 10"/>
          <p:cNvSpPr/>
          <p:nvPr/>
        </p:nvSpPr>
        <p:spPr>
          <a:xfrm>
            <a:off x="640080" y="5349240"/>
            <a:ext cx="54864" cy="86868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5532120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FINDING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5852160"/>
            <a:ext cx="10360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(label 4) was mislabeled — 0 / 20 patients had it before the fix.</a:t>
            </a:r>
            <a:endParaRPr lang="en-US" sz="1350" dirty="0"/>
          </a:p>
        </p:txBody>
      </p:sp>
      <p:pic>
        <p:nvPicPr>
          <p:cNvPr id="17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0:15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Correcting the Aorta Label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310896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Patient_02: axial slice 111 and 3D view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Before: two pieces carry the esophagus label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After: one piece relabelled aorta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512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DONE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643884"/>
            <a:ext cx="3108960" cy="1247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the mislabeling was found and fixed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any other integrity checks run (e.g. alignment)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</a:t>
            </a:r>
            <a:endParaRPr lang="en-US" sz="1150" dirty="0"/>
          </a:p>
        </p:txBody>
      </p:sp>
      <p:pic>
        <p:nvPicPr>
          <p:cNvPr id="12" name="Image 0" descr="/Users/bellavg/ProjectsMSc/ai4mi_project/.claude/worktrees/segthor-presentation-midpoint-825c66/figures/comparison/label_correction_example_bef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48840"/>
            <a:ext cx="3374136" cy="18720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174736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</a:t>
            </a:r>
            <a:endParaRPr lang="en-US" sz="1150" dirty="0"/>
          </a:p>
        </p:txBody>
      </p:sp>
      <p:pic>
        <p:nvPicPr>
          <p:cNvPr id="14" name="Image 1" descr="/Users/bellavg/ProjectsMSc/ai4mi_project/.claude/worktrees/segthor-presentation-midpoint-825c66/figures/comparison/label_correction_example_af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74736" y="2148840"/>
            <a:ext cx="3374136" cy="18720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03236" y="2947702"/>
            <a:ext cx="457200" cy="274320"/>
          </a:xfrm>
          <a:prstGeom prst="rightArrow">
            <a:avLst/>
          </a:prstGeom>
          <a:solidFill>
            <a:srgbClr val="BC0031"/>
          </a:solidFill>
          <a:ln/>
        </p:spPr>
      </p:sp>
      <p:sp>
        <p:nvSpPr>
          <p:cNvPr id="16" name="Shape 12"/>
          <p:cNvSpPr/>
          <p:nvPr/>
        </p:nvSpPr>
        <p:spPr>
          <a:xfrm>
            <a:off x="4114800" y="4340924"/>
            <a:ext cx="7434072" cy="114300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7" name="Shape 13"/>
          <p:cNvSpPr/>
          <p:nvPr/>
        </p:nvSpPr>
        <p:spPr>
          <a:xfrm>
            <a:off x="4114800" y="4340924"/>
            <a:ext cx="54864" cy="1143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389120" y="4523804"/>
            <a:ext cx="688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OUTCOME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389120" y="4843844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Caught and corrected before any preprocessing or training ran on it.</a:t>
            </a:r>
            <a:endParaRPr lang="en-US" sz="1350" dirty="0"/>
          </a:p>
        </p:txBody>
      </p:sp>
      <p:pic>
        <p:nvPicPr>
          <p:cNvPr id="20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I: Scan Geometry for the 20 CT Scans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profile/scan_geometry/field_of_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234440"/>
            <a:ext cx="7251192" cy="49253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57032" y="1234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257032" y="1527048"/>
            <a:ext cx="329184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voxel spacing across patients, slice count / scan length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57032" y="28026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MADE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57032" y="3095244"/>
            <a:ext cx="329184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it was measured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57032" y="4170807"/>
            <a:ext cx="329184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8257032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31352" y="435368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531352" y="4673727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II: Organ HU Intensity, All Patients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comparison/label_hu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09032" y="1234440"/>
            <a:ext cx="6339840" cy="4937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234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527048"/>
            <a:ext cx="411480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 inside each annotated organ, for all patients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Bars are labelled voxels per 10 HU bin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original labels (aorta merged). Bottom: corrected labels (aorta separate)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8026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VS. HEART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095244"/>
            <a:ext cx="411480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aorta vs. heart in HU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170807"/>
            <a:ext cx="411480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4353687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67372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III: Spatial Layout &amp; Label Adjacency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pic>
        <p:nvPicPr>
          <p:cNvPr id="7" name="Image 0" descr="/Users/bellavg/ProjectsMSc/ai4mi_project/.claude/worktrees/segthor-presentation-midpoint-825c66/figures/profile/organ_position_3d/organ_position_3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98808" y="1585532"/>
            <a:ext cx="10245031" cy="333559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71397" y="5100955"/>
            <a:ext cx="361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POSITION, EXTENT &amp; ADJACENCY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271397" y="5393563"/>
            <a:ext cx="3610229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each organ sits in 3D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coverage along the body axis</a:t>
            </a:r>
            <a:endParaRPr lang="en-US" sz="12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which pairs matter most, now that aorta is real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165912" y="5100955"/>
            <a:ext cx="4064000" cy="118872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1" name="Shape 8"/>
          <p:cNvSpPr/>
          <p:nvPr/>
        </p:nvSpPr>
        <p:spPr>
          <a:xfrm>
            <a:off x="7165912" y="5100955"/>
            <a:ext cx="54864" cy="118872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40232" y="5283835"/>
            <a:ext cx="351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440232" y="5603875"/>
            <a:ext cx="351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position and extent inform the preprocessing decisions on the next slide.</a:t>
            </a:r>
            <a:endParaRPr lang="en-US" sz="1350" dirty="0"/>
          </a:p>
        </p:txBody>
      </p:sp>
      <p:pic>
        <p:nvPicPr>
          <p:cNvPr id="14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4E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PIPELINE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From Measurement to Method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7" name="Shape 5"/>
          <p:cNvSpPr/>
          <p:nvPr/>
        </p:nvSpPr>
        <p:spPr>
          <a:xfrm>
            <a:off x="206959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0695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geometry measurement (slide 4)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934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578815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8815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35864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2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35864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intensity measurement (slide 5)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20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950671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067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07720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3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07720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position/extent measurement (slide 6)</a:t>
            </a:r>
            <a:endParaRPr lang="en-US" sz="1200" dirty="0"/>
          </a:p>
        </p:txBody>
      </p:sp>
      <p:pic>
        <p:nvPicPr>
          <p:cNvPr id="21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Performance: Unmodified Pipeline (CE Loss, 25 Epochs)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Shape 5"/>
          <p:cNvSpPr/>
          <p:nvPr/>
        </p:nvSpPr>
        <p:spPr>
          <a:xfrm>
            <a:off x="639064" y="1689100"/>
            <a:ext cx="6223000" cy="3175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B3C6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39064" y="1689100"/>
            <a:ext cx="6223000" cy="317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Ground truth vs. prediction on a validation patient (figure to add)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9064" y="4991100"/>
            <a:ext cx="6223000" cy="137160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10" name="Shape 8"/>
          <p:cNvSpPr/>
          <p:nvPr/>
        </p:nvSpPr>
        <p:spPr>
          <a:xfrm>
            <a:off x="639064" y="4991100"/>
            <a:ext cx="54864" cy="13716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3384" y="5173980"/>
            <a:ext cx="567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BASELINE: POSITIVE-SLICE DICE (PATIENT MEANS)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13384" y="5494020"/>
            <a:ext cx="5674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Esophagus 0.47 · Heart 0.58 · Trachea 0.50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Split: 15 train / 5 val (val = patients 01, 11, 15, 17, 19); scores are means over these 5 held-out scans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192264" y="1689100"/>
            <a:ext cx="401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UNCORRECTED VS. CORRECTED LABELS, WITH VS. WITHOUT PREPROCESSING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462264" y="2235200"/>
            <a:ext cx="1371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Without preprocessing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833864" y="2235200"/>
            <a:ext cx="1371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 preprocessing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62264" y="2743200"/>
            <a:ext cx="2743200" cy="18288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17" name="Shape 15"/>
          <p:cNvSpPr/>
          <p:nvPr/>
        </p:nvSpPr>
        <p:spPr>
          <a:xfrm>
            <a:off x="8462264" y="2743200"/>
            <a:ext cx="1371600" cy="88900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92264" y="2743200"/>
            <a:ext cx="117856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Uncorrected labels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462264" y="2743200"/>
            <a:ext cx="13716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833864" y="2743200"/>
            <a:ext cx="13716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92264" y="3632200"/>
            <a:ext cx="4013200" cy="9144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2" name="Shape 20"/>
          <p:cNvSpPr/>
          <p:nvPr/>
        </p:nvSpPr>
        <p:spPr>
          <a:xfrm>
            <a:off x="8462264" y="3632200"/>
            <a:ext cx="1371600" cy="88900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92264" y="3632200"/>
            <a:ext cx="117856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Corrected labels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62264" y="3632200"/>
            <a:ext cx="13716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833864" y="3632200"/>
            <a:ext cx="13716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192264" y="4521200"/>
            <a:ext cx="4013200" cy="9144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92264" y="4673600"/>
            <a:ext cx="401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changes with correction and with preprocessing</a:t>
            </a:r>
            <a:endParaRPr lang="en-US" sz="1200" dirty="0"/>
          </a:p>
        </p:txBody>
      </p:sp>
      <p:pic>
        <p:nvPicPr>
          <p:cNvPr id="28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MODIFICATION &amp; RESULT — LARGEST RUBRIC WEIGHT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2:10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Modification: Motivation, Method &amp; Preliminary Result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Shape 5"/>
          <p:cNvSpPr/>
          <p:nvPr/>
        </p:nvSpPr>
        <p:spPr>
          <a:xfrm>
            <a:off x="160477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477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Motivation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tied back to an exploration finding (slides 4–6)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638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39369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936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15468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modification tried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5274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8261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26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5468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vs. baseline — from the run in progress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416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97153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7153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15468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 or two concrete next experiments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102100"/>
            <a:ext cx="5143500" cy="1905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DBFCB"/>
            </a:solidFill>
            <a:prstDash val="dash"/>
          </a:ln>
        </p:spPr>
      </p:sp>
      <p:sp>
        <p:nvSpPr>
          <p:cNvPr id="27" name="Text 25"/>
          <p:cNvSpPr txBox="1"/>
          <p:nvPr/>
        </p:nvSpPr>
        <p:spPr>
          <a:xfrm>
            <a:off x="640080" y="6061964"/>
            <a:ext cx="51435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figure 1: results vs. corrected baseline (and nnU-Net)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061964" y="4102100"/>
            <a:ext cx="5143500" cy="1905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DBFCB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6061964" y="6061964"/>
            <a:ext cx="51435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figure 2: ground truth vs. baseline vs. modified prediction</a:t>
            </a:r>
            <a:endParaRPr lang="en-US" sz="1200" dirty="0"/>
          </a:p>
        </p:txBody>
      </p:sp>
      <p:pic>
        <p:nvPicPr>
          <p:cNvPr id="30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Status &amp; Next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9601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Done: dataset validation, exploration, baseline, preprocessing pipeline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progress: [TODO] first modified-loss / modified-preprocessing run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Next: [TODO] one or two concrete next experiments before the final deadline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</a:t>
            </a:r>
            <a:endParaRPr lang="en-US" sz="2000" dirty="0"/>
          </a:p>
        </p:txBody>
      </p:sp>
      <p:pic>
        <p:nvPicPr>
          <p:cNvPr id="6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 — BACKUP, NOT IN THE TIMED TALK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A: Label Shape Variability Across Patients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figure shows, patient by patient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aorta fits into that pattern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only — pull in if a question opens the door</a:t>
            </a:r>
            <a:endParaRPr lang="en-US" sz="1600" dirty="0"/>
          </a:p>
        </p:txBody>
      </p:sp>
      <p:pic>
        <p:nvPicPr>
          <p:cNvPr id="7" name="Image 0" descr="/Users/bellavg/ProjectsMSc/ai4mi_project/.claude/worktrees/segthor-presentation-midpoint-825c66/figures/profile/label_pairs/label_pairs_str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383280"/>
            <a:ext cx="8887968" cy="2751038"/>
          </a:xfrm>
          <a:prstGeom prst="rect">
            <a:avLst/>
          </a:prstGeom>
        </p:spPr>
      </p:pic>
      <p:pic>
        <p:nvPicPr>
          <p:cNvPr id="8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for Medical Imaging</dc:creator>
  <cp:lastModifiedBy>AI for Medical Imaging</cp:lastModifiedBy>
  <cp:revision>1</cp:revision>
  <dcterms:created xsi:type="dcterms:W3CDTF">2026-09-20T10:34:50Z</dcterms:created>
  <dcterms:modified xsi:type="dcterms:W3CDTF">2026-09-20T10:34:50Z</dcterms:modified>
</cp:coreProperties>
</file>