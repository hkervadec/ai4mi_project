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108960" cy="11887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931920"/>
            <a:ext cx="54864" cy="118872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one-sentence clinical takeaway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figures/comparison/label_example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783080"/>
            <a:ext cx="5010614" cy="3617186"/>
          </a:xfrm>
          <a:prstGeom prst="rect">
            <a:avLst/>
          </a:prstGeom>
        </p:spPr>
      </p:pic>
      <p:pic>
        <p:nvPicPr>
          <p:cNvPr id="13" name="Image 1" descr="/Users/bellavg/ProjectsMSc/ai4mi_project/.claude/worktrees/segthor-presentation-midpoint-825c66/figures/comparison/label_example_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0862" y="1783080"/>
            <a:ext cx="2268010" cy="361718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14800" y="5509994"/>
            <a:ext cx="7434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Patient_18: the four organs to segment, as an axial slice (102 of 183) and as 3D surfaces</a:t>
            </a:r>
            <a:endParaRPr lang="en-US" sz="1100" dirty="0"/>
          </a:p>
        </p:txBody>
      </p:sp>
      <p:pic>
        <p:nvPicPr>
          <p:cNvPr id="15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Finding the Missing Aorta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7" name="Image 0" descr="/Users/bellavg/ProjectsMSc/ai4mi_project/.claude/worktrees/segthor-presentation-midpoint-825c66/figures/comparison/label_makeup_r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4206240" cy="2196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952240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MAKE-UP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244848"/>
            <a:ext cx="48280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patients, 978 million voxels: 98.96% background, 1.04% labelled (10.2 M)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 of labelled voxels, 3 labels → 4 labels: esophagus 23.1% → 4.1%; aorta 18.9%</a:t>
            </a:r>
            <a:endParaRPr lang="en-US" sz="1250" dirty="0"/>
          </a:p>
        </p:txBody>
      </p:sp>
      <p:pic>
        <p:nvPicPr>
          <p:cNvPr id="10" name="Image 1" descr="/Users/bellavg/ProjectsMSc/ai4mi_project/.claude/worktrees/segthor-presentation-midpoint-825c66/figures/comparison/connected_componen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20840" y="1645920"/>
            <a:ext cx="4206240" cy="21544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20840" y="3910064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CONNECTED COMPONENTS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720840" y="4202672"/>
            <a:ext cx="4828032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% of slices (2D) or patients (3D) with 1, 2 or 3+ pieces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aorta merged (3 labels). Bottom: aorta separate (4 labels)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5349240"/>
            <a:ext cx="10908792" cy="86868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080" y="5349240"/>
            <a:ext cx="54864" cy="86868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553212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5852160"/>
            <a:ext cx="10360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</a:t>
            </a:r>
            <a:endParaRPr lang="en-US" sz="1350" dirty="0"/>
          </a:p>
        </p:txBody>
      </p:sp>
      <p:pic>
        <p:nvPicPr>
          <p:cNvPr id="17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0:15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310896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Patient_02: axial slice 111 and 3D view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Before: two pieces carry the esophagus label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After: one piece relabelled aorta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512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DONE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43884"/>
            <a:ext cx="3108960" cy="1247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</a:t>
            </a:r>
            <a:endParaRPr lang="en-US" sz="1150" dirty="0"/>
          </a:p>
        </p:txBody>
      </p:sp>
      <p:pic>
        <p:nvPicPr>
          <p:cNvPr id="12" name="Image 0" descr="/Users/bellavg/ProjectsMSc/ai4mi_project/.claude/worktrees/segthor-presentation-midpoint-825c66/figures/comparison/label_correction_example_bef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48840"/>
            <a:ext cx="3374136" cy="18720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74736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</a:t>
            </a:r>
            <a:endParaRPr lang="en-US" sz="1150" dirty="0"/>
          </a:p>
        </p:txBody>
      </p:sp>
      <p:pic>
        <p:nvPicPr>
          <p:cNvPr id="14" name="Image 1" descr="/Users/bellavg/ProjectsMSc/ai4mi_project/.claude/worktrees/segthor-presentation-midpoint-825c66/figures/comparison/label_correction_example_af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74736" y="2148840"/>
            <a:ext cx="3374136" cy="18720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03236" y="2947702"/>
            <a:ext cx="457200" cy="274320"/>
          </a:xfrm>
          <a:prstGeom prst="rightArrow">
            <a:avLst/>
          </a:prstGeom>
          <a:solidFill>
            <a:srgbClr val="BC0031"/>
          </a:solidFill>
          <a:ln/>
        </p:spPr>
      </p:sp>
      <p:sp>
        <p:nvSpPr>
          <p:cNvPr id="16" name="Shape 12"/>
          <p:cNvSpPr/>
          <p:nvPr/>
        </p:nvSpPr>
        <p:spPr>
          <a:xfrm>
            <a:off x="4114800" y="4340924"/>
            <a:ext cx="7434072" cy="114300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7" name="Shape 13"/>
          <p:cNvSpPr/>
          <p:nvPr/>
        </p:nvSpPr>
        <p:spPr>
          <a:xfrm>
            <a:off x="4114800" y="4340924"/>
            <a:ext cx="54864" cy="1143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389120" y="4523804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9120" y="4843844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Caught and corrected before any preprocessing or training ran on it.</a:t>
            </a:r>
            <a:endParaRPr lang="en-US" sz="1350" dirty="0"/>
          </a:p>
        </p:txBody>
      </p:sp>
      <p:pic>
        <p:nvPicPr>
          <p:cNvPr id="20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251192" cy="49253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57032" y="1234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257032" y="1527048"/>
            <a:ext cx="329184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57032" y="28026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57032" y="3095244"/>
            <a:ext cx="329184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57032" y="4170807"/>
            <a:ext cx="329184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8257032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31352" y="435368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531352" y="4673727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Organ HU Intensity, All Patients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comparison/label_hu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09032" y="1234440"/>
            <a:ext cx="6339840" cy="4937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234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527048"/>
            <a:ext cx="411480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 inside each annotated organ, for all patients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Bars are labelled voxels per 10 HU bin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original labels (aorta merged). Bottom: corrected labels (aorta separate)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026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VS. HEART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5244"/>
            <a:ext cx="411480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170807"/>
            <a:ext cx="411480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35368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7372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Spatial Layout &amp; Label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pic>
        <p:nvPicPr>
          <p:cNvPr id="7" name="Image 0" descr="/Users/bellavg/ProjectsMSc/ai4mi_project/.claude/worktrees/segthor-presentation-midpoint-825c66/figures/profile/organ_position_3d/organ_position_3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98808" y="1585532"/>
            <a:ext cx="10245031" cy="3335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71397" y="5100955"/>
            <a:ext cx="361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POSITION, EXTENT &amp; ADJACENCY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271397" y="5393563"/>
            <a:ext cx="3610229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65912" y="5100955"/>
            <a:ext cx="4064000" cy="118872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1" name="Shape 8"/>
          <p:cNvSpPr/>
          <p:nvPr/>
        </p:nvSpPr>
        <p:spPr>
          <a:xfrm>
            <a:off x="7165912" y="5100955"/>
            <a:ext cx="54864" cy="118872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40232" y="5283835"/>
            <a:ext cx="351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440232" y="5603875"/>
            <a:ext cx="351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pic>
        <p:nvPicPr>
          <p:cNvPr id="14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4)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5)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6)</a:t>
            </a:r>
            <a:endParaRPr lang="en-US" sz="1200" dirty="0"/>
          </a:p>
        </p:txBody>
      </p:sp>
      <p:pic>
        <p:nvPicPr>
          <p:cNvPr id="21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— val = patients 01, 11, 15, 17, 19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Scores below are means over these 5 held-out scans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201168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201168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POSITIVE-SLICE DICE (PATIENT MEANS)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Esophagus: 0.47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Heart: 0.58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Trachea: 0.50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4–6)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pic>
        <p:nvPicPr>
          <p:cNvPr id="26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.claude/worktrees/segthor-presentation-midpoint-825c66/figures/profile/label_pairs/label_pairs_str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383280"/>
            <a:ext cx="8887968" cy="2751038"/>
          </a:xfrm>
          <a:prstGeom prst="rect">
            <a:avLst/>
          </a:prstGeom>
        </p:spPr>
      </p:pic>
      <p:pic>
        <p:nvPicPr>
          <p:cNvPr id="8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2026-09-20T10:27:15Z</dcterms:created>
  <dcterms:modified xsi:type="dcterms:W3CDTF">2026-09-20T10:27:15Z</dcterms:modified>
</cp:coreProperties>
</file>